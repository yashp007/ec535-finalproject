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F23BCE-4074-485B-ABBE-F7C054B7DC0F}">
  <a:tblStyle styleId="{92F23BCE-4074-485B-ABBE-F7C054B7DC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4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835b386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1835b386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195c288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195c288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18916091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18916091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195c288e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195c288e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/>
          <p:nvPr/>
        </p:nvSpPr>
        <p:spPr>
          <a:xfrm>
            <a:off x="-28500" y="-70150"/>
            <a:ext cx="9201000" cy="6921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2"/>
          <p:cNvSpPr/>
          <p:nvPr/>
        </p:nvSpPr>
        <p:spPr>
          <a:xfrm>
            <a:off x="137900" y="681275"/>
            <a:ext cx="4428900" cy="2319600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2"/>
          <p:cNvSpPr/>
          <p:nvPr/>
        </p:nvSpPr>
        <p:spPr>
          <a:xfrm>
            <a:off x="4566800" y="681275"/>
            <a:ext cx="4428900" cy="2319600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-28500" y="-70150"/>
            <a:ext cx="9201000" cy="6921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If2ZLAfH8HDlqbmRv00E0CbS1w7OAtGI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8016" l="9743" r="4559" t="7057"/>
          <a:stretch/>
        </p:blipFill>
        <p:spPr>
          <a:xfrm>
            <a:off x="692750" y="925675"/>
            <a:ext cx="3352975" cy="1777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71200" y="3096925"/>
            <a:ext cx="4136100" cy="20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Key Objectives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●"/>
            </a:pPr>
            <a:r>
              <a:rPr b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Real-time sensing: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The system must react immediately during emergency conditions, so we use interrupt-driven detection to guarantee timely responses under RTOS behavior.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●"/>
            </a:pPr>
            <a:r>
              <a:rPr b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Low-power operation: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To extend battery life, the sensing hardware triggers the MPU only when needed, allowing the main processor to stay in sleep mode instead of running continuously.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●"/>
            </a:pPr>
            <a:r>
              <a:rPr b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Safe fallback behavior: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If the sensor hardware, driver, or interrupt fails, the MPU should fail gracefully instead of missing a critical event.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8475" y="1198200"/>
            <a:ext cx="2967750" cy="18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6103" y="1236122"/>
            <a:ext cx="1301949" cy="1301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6" name="Google Shape;76;p14"/>
          <p:cNvSpPr txBox="1"/>
          <p:nvPr/>
        </p:nvSpPr>
        <p:spPr>
          <a:xfrm>
            <a:off x="327450" y="0"/>
            <a:ext cx="84891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u="sng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SafeStoves</a:t>
            </a:r>
            <a:r>
              <a:rPr lang="en" sz="2800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" sz="2200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 A embedded wireless stove monitoring system</a:t>
            </a:r>
            <a:endParaRPr sz="2600">
              <a:solidFill>
                <a:srgbClr val="EFEFE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7" name="Google Shape;77;p14"/>
          <p:cNvGrpSpPr/>
          <p:nvPr/>
        </p:nvGrpSpPr>
        <p:grpSpPr>
          <a:xfrm>
            <a:off x="6565830" y="1678112"/>
            <a:ext cx="483637" cy="479268"/>
            <a:chOff x="5824300" y="1739100"/>
            <a:chExt cx="315525" cy="312675"/>
          </a:xfrm>
        </p:grpSpPr>
        <p:cxnSp>
          <p:nvCxnSpPr>
            <p:cNvPr id="78" name="Google Shape;78;p14"/>
            <p:cNvCxnSpPr/>
            <p:nvPr/>
          </p:nvCxnSpPr>
          <p:spPr>
            <a:xfrm flipH="1" rot="10800000">
              <a:off x="5824300" y="1739100"/>
              <a:ext cx="279900" cy="279900"/>
            </a:xfrm>
            <a:prstGeom prst="straightConnector1">
              <a:avLst/>
            </a:prstGeom>
            <a:noFill/>
            <a:ln cap="flat" cmpd="sng" w="146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9" name="Google Shape;79;p14"/>
            <p:cNvCxnSpPr/>
            <p:nvPr/>
          </p:nvCxnSpPr>
          <p:spPr>
            <a:xfrm flipH="1">
              <a:off x="5904625" y="1816575"/>
              <a:ext cx="235200" cy="235200"/>
            </a:xfrm>
            <a:prstGeom prst="straightConnector1">
              <a:avLst/>
            </a:prstGeom>
            <a:noFill/>
            <a:ln cap="flat" cmpd="sng" w="146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80" name="Google Shape;80;p14" title="EC535 Final Project Diagram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7710" y="3096925"/>
            <a:ext cx="4521590" cy="200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1" name="Google Shape;81;p14"/>
          <p:cNvSpPr txBox="1"/>
          <p:nvPr/>
        </p:nvSpPr>
        <p:spPr>
          <a:xfrm>
            <a:off x="5151075" y="775025"/>
            <a:ext cx="23046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stand-alone device that you place near your stove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/>
        </p:nvSpPr>
        <p:spPr>
          <a:xfrm>
            <a:off x="327450" y="0"/>
            <a:ext cx="84891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u="sng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SafeStoves</a:t>
            </a:r>
            <a:r>
              <a:rPr lang="en" sz="2800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" sz="2200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 A embedded wireless stove monitoring system</a:t>
            </a:r>
            <a:endParaRPr sz="2600">
              <a:solidFill>
                <a:srgbClr val="EFEFE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52150" y="1951375"/>
            <a:ext cx="1432800" cy="1432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103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61881" rotWithShape="0" algn="bl" dir="5400000" dist="20627">
              <a:srgbClr val="000000">
                <a:alpha val="50000"/>
              </a:srgbClr>
            </a:outerShdw>
          </a:effectLst>
        </p:spPr>
        <p:txBody>
          <a:bodyPr anchorCtr="0" anchor="ctr" bIns="99000" lIns="99000" spcFirstLastPara="1" rIns="99000" wrap="square" tIns="99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D700"/>
                </a:solidFill>
                <a:latin typeface="Open Sans"/>
                <a:ea typeface="Open Sans"/>
                <a:cs typeface="Open Sans"/>
                <a:sym typeface="Open Sans"/>
              </a:rPr>
              <a:t>mySignalLed.ko</a:t>
            </a:r>
            <a:endParaRPr b="1" sz="700">
              <a:solidFill>
                <a:srgbClr val="FFD7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D7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FFD700"/>
                </a:solidFill>
                <a:latin typeface="Open Sans"/>
                <a:ea typeface="Open Sans"/>
                <a:cs typeface="Open Sans"/>
                <a:sym typeface="Open Sans"/>
              </a:rPr>
              <a:t>Handles LED-Indicator Control</a:t>
            </a:r>
            <a:endParaRPr i="1" sz="700">
              <a:solidFill>
                <a:srgbClr val="FFD7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2800550" y="1951250"/>
            <a:ext cx="1432800" cy="1432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103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61881" rotWithShape="0" algn="bl" dir="5400000" dist="20627">
              <a:srgbClr val="000000">
                <a:alpha val="50000"/>
              </a:srgbClr>
            </a:outerShdw>
          </a:effectLst>
        </p:spPr>
        <p:txBody>
          <a:bodyPr anchorCtr="0" anchor="ctr" bIns="99000" lIns="99000" spcFirstLastPara="1" rIns="99000" wrap="square" tIns="99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D700"/>
                </a:solidFill>
                <a:latin typeface="Open Sans"/>
                <a:ea typeface="Open Sans"/>
                <a:cs typeface="Open Sans"/>
                <a:sym typeface="Open Sans"/>
              </a:rPr>
              <a:t>myTempSensor_comp.ko</a:t>
            </a:r>
            <a:endParaRPr b="1" sz="700">
              <a:solidFill>
                <a:srgbClr val="FFD7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D7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FFD700"/>
                </a:solidFill>
                <a:latin typeface="Open Sans"/>
                <a:ea typeface="Open Sans"/>
                <a:cs typeface="Open Sans"/>
                <a:sym typeface="Open Sans"/>
              </a:rPr>
              <a:t>Manages temperature sensor </a:t>
            </a:r>
            <a:r>
              <a:rPr i="1" lang="en" sz="700">
                <a:solidFill>
                  <a:srgbClr val="FFD700"/>
                </a:solidFill>
                <a:latin typeface="Open Sans"/>
                <a:ea typeface="Open Sans"/>
                <a:cs typeface="Open Sans"/>
                <a:sym typeface="Open Sans"/>
              </a:rPr>
              <a:t>interrupts</a:t>
            </a:r>
            <a:endParaRPr i="1" sz="700">
              <a:solidFill>
                <a:srgbClr val="FFD7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707675" y="3684775"/>
            <a:ext cx="921600" cy="921600"/>
          </a:xfrm>
          <a:prstGeom prst="octagon">
            <a:avLst>
              <a:gd fmla="val 2928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Custom Hardware</a:t>
            </a:r>
            <a:endParaRPr i="1"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3056200" y="3684775"/>
            <a:ext cx="921600" cy="921600"/>
          </a:xfrm>
          <a:prstGeom prst="octagon">
            <a:avLst>
              <a:gd fmla="val 2928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Custom Hardware</a:t>
            </a:r>
            <a:endParaRPr i="1"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1" name="Google Shape;91;p15"/>
          <p:cNvCxnSpPr>
            <a:stCxn id="89" idx="6"/>
          </p:cNvCxnSpPr>
          <p:nvPr/>
        </p:nvCxnSpPr>
        <p:spPr>
          <a:xfrm rot="10800000">
            <a:off x="977602" y="3384175"/>
            <a:ext cx="0" cy="3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5"/>
          <p:cNvCxnSpPr>
            <a:stCxn id="89" idx="7"/>
          </p:cNvCxnSpPr>
          <p:nvPr/>
        </p:nvCxnSpPr>
        <p:spPr>
          <a:xfrm rot="10800000">
            <a:off x="1359348" y="3384175"/>
            <a:ext cx="0" cy="3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5"/>
          <p:cNvCxnSpPr>
            <a:stCxn id="90" idx="6"/>
          </p:cNvCxnSpPr>
          <p:nvPr/>
        </p:nvCxnSpPr>
        <p:spPr>
          <a:xfrm rot="10800000">
            <a:off x="3326127" y="3395275"/>
            <a:ext cx="0" cy="2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5"/>
          <p:cNvCxnSpPr>
            <a:stCxn id="90" idx="7"/>
          </p:cNvCxnSpPr>
          <p:nvPr/>
        </p:nvCxnSpPr>
        <p:spPr>
          <a:xfrm rot="10800000">
            <a:off x="3707873" y="3398275"/>
            <a:ext cx="0" cy="2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5"/>
          <p:cNvSpPr/>
          <p:nvPr/>
        </p:nvSpPr>
        <p:spPr>
          <a:xfrm>
            <a:off x="111100" y="713525"/>
            <a:ext cx="8845200" cy="959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Open Sans"/>
                <a:ea typeface="Open Sans"/>
                <a:cs typeface="Open Sans"/>
                <a:sym typeface="Open Sans"/>
              </a:rPr>
              <a:t>Userspace Program</a:t>
            </a:r>
            <a:endParaRPr b="1"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707675" y="1467450"/>
            <a:ext cx="756000" cy="504000"/>
          </a:xfrm>
          <a:prstGeom prst="flowChartManualOperation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Thread</a:t>
            </a:r>
            <a:endParaRPr i="1" sz="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085975" y="1467450"/>
            <a:ext cx="756000" cy="504000"/>
          </a:xfrm>
          <a:prstGeom prst="flowChartManualOperation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Thread</a:t>
            </a:r>
            <a:endParaRPr i="1" sz="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235600" y="1874700"/>
            <a:ext cx="4378800" cy="1743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5741925" y="2160800"/>
            <a:ext cx="2513700" cy="2513700"/>
          </a:xfrm>
          <a:prstGeom prst="octagon">
            <a:avLst>
              <a:gd fmla="val 2928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LCD Data Display Module</a:t>
            </a:r>
            <a:endParaRPr b="1" i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(In </a:t>
            </a:r>
            <a:r>
              <a:rPr i="1" lang="en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lieu</a:t>
            </a:r>
            <a:r>
              <a:rPr i="1" lang="en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of wireless server)</a:t>
            </a:r>
            <a:endParaRPr i="1"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620775" y="1467450"/>
            <a:ext cx="756000" cy="737100"/>
          </a:xfrm>
          <a:prstGeom prst="flowChartManualOperation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Thread</a:t>
            </a:r>
            <a:endParaRPr i="1" sz="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327450" y="0"/>
            <a:ext cx="84891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u="sng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SafeStoves</a:t>
            </a:r>
            <a:r>
              <a:rPr lang="en" sz="2800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" sz="2200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 A embedded wireless stove monitoring system</a:t>
            </a:r>
            <a:endParaRPr sz="2600">
              <a:solidFill>
                <a:srgbClr val="EFEFE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6" name="Google Shape;106;p16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599" y="1914150"/>
            <a:ext cx="4682950" cy="2707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125100" y="750575"/>
            <a:ext cx="90189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LED Provides Information even when the system is not connected to the server.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08" name="Google Shape;108;p16"/>
          <p:cNvGrpSpPr/>
          <p:nvPr/>
        </p:nvGrpSpPr>
        <p:grpSpPr>
          <a:xfrm>
            <a:off x="4280825" y="1320775"/>
            <a:ext cx="1367400" cy="401400"/>
            <a:chOff x="4280825" y="1320775"/>
            <a:chExt cx="1367400" cy="401400"/>
          </a:xfrm>
        </p:grpSpPr>
        <p:sp>
          <p:nvSpPr>
            <p:cNvPr id="109" name="Google Shape;109;p16"/>
            <p:cNvSpPr txBox="1"/>
            <p:nvPr/>
          </p:nvSpPr>
          <p:spPr>
            <a:xfrm>
              <a:off x="4280825" y="1320775"/>
              <a:ext cx="1367400" cy="40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chemeClr val="dk2"/>
                  </a:solidFill>
                  <a:latin typeface="Open Sans"/>
                  <a:ea typeface="Open Sans"/>
                  <a:cs typeface="Open Sans"/>
                  <a:sym typeface="Open Sans"/>
                </a:rPr>
                <a:t>Cycle 1</a:t>
              </a:r>
              <a:endParaRPr i="1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10" name="Google Shape;110;p16"/>
            <p:cNvCxnSpPr/>
            <p:nvPr/>
          </p:nvCxnSpPr>
          <p:spPr>
            <a:xfrm>
              <a:off x="4317275" y="1675700"/>
              <a:ext cx="1294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grpSp>
        <p:nvGrpSpPr>
          <p:cNvPr id="111" name="Google Shape;111;p16"/>
          <p:cNvGrpSpPr/>
          <p:nvPr/>
        </p:nvGrpSpPr>
        <p:grpSpPr>
          <a:xfrm>
            <a:off x="5648225" y="1320775"/>
            <a:ext cx="1367400" cy="401400"/>
            <a:chOff x="4280825" y="1320775"/>
            <a:chExt cx="1367400" cy="401400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4280825" y="1320775"/>
              <a:ext cx="1367400" cy="40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chemeClr val="dk2"/>
                  </a:solidFill>
                  <a:latin typeface="Open Sans"/>
                  <a:ea typeface="Open Sans"/>
                  <a:cs typeface="Open Sans"/>
                  <a:sym typeface="Open Sans"/>
                </a:rPr>
                <a:t>Cycle 2</a:t>
              </a:r>
              <a:endParaRPr i="1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13" name="Google Shape;113;p16"/>
            <p:cNvCxnSpPr/>
            <p:nvPr/>
          </p:nvCxnSpPr>
          <p:spPr>
            <a:xfrm>
              <a:off x="4317275" y="1675700"/>
              <a:ext cx="1294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grpSp>
        <p:nvGrpSpPr>
          <p:cNvPr id="114" name="Google Shape;114;p16"/>
          <p:cNvGrpSpPr/>
          <p:nvPr/>
        </p:nvGrpSpPr>
        <p:grpSpPr>
          <a:xfrm>
            <a:off x="7015625" y="1320775"/>
            <a:ext cx="1781850" cy="401400"/>
            <a:chOff x="4280825" y="1320775"/>
            <a:chExt cx="1781850" cy="401400"/>
          </a:xfrm>
        </p:grpSpPr>
        <p:sp>
          <p:nvSpPr>
            <p:cNvPr id="115" name="Google Shape;115;p16"/>
            <p:cNvSpPr txBox="1"/>
            <p:nvPr/>
          </p:nvSpPr>
          <p:spPr>
            <a:xfrm>
              <a:off x="4280825" y="1320775"/>
              <a:ext cx="1781700" cy="40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chemeClr val="dk2"/>
                  </a:solidFill>
                  <a:latin typeface="Open Sans"/>
                  <a:ea typeface="Open Sans"/>
                  <a:cs typeface="Open Sans"/>
                  <a:sym typeface="Open Sans"/>
                </a:rPr>
                <a:t>Cycle 3</a:t>
              </a:r>
              <a:endParaRPr i="1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16" name="Google Shape;116;p16"/>
            <p:cNvCxnSpPr/>
            <p:nvPr/>
          </p:nvCxnSpPr>
          <p:spPr>
            <a:xfrm>
              <a:off x="4317275" y="1675700"/>
              <a:ext cx="17454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graphicFrame>
        <p:nvGraphicFramePr>
          <p:cNvPr id="117" name="Google Shape;117;p16"/>
          <p:cNvGraphicFramePr/>
          <p:nvPr/>
        </p:nvGraphicFramePr>
        <p:xfrm>
          <a:off x="125100" y="170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{92F23BCE-4074-485B-ABBE-F7C054B7DC0F}</a:tableStyleId>
              </a:tblPr>
              <a:tblGrid>
                <a:gridCol w="969000"/>
                <a:gridCol w="1044625"/>
                <a:gridCol w="718275"/>
                <a:gridCol w="1144075"/>
              </a:tblGrid>
              <a:tr h="38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Server Status</a:t>
                      </a:r>
                      <a:endParaRPr b="1"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Stove Status</a:t>
                      </a:r>
                      <a:endParaRPr b="1"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Temperature Status</a:t>
                      </a:r>
                      <a:endParaRPr b="1"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Cycle 1</a:t>
                      </a:r>
                      <a:endParaRPr b="1"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</a:t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Off</a:t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Safe</a:t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Cycle 2</a:t>
                      </a:r>
                      <a:endParaRPr b="1"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</a:t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</a:t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 Temp.</a:t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Cycle 3</a:t>
                      </a:r>
                      <a:endParaRPr b="1"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8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τ</a:t>
                      </a:r>
                      <a:r>
                        <a:rPr baseline="-25000" i="1" lang="en" sz="8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duty</a:t>
                      </a:r>
                      <a:r>
                        <a:rPr i="1" lang="en" sz="8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→ 4 sec</a:t>
                      </a:r>
                      <a:endParaRPr i="1" sz="8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Disconnected</a:t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Off</a:t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 Temp.</a:t>
                      </a:r>
                      <a:endParaRPr sz="1000">
                        <a:solidFill>
                          <a:schemeClr val="accent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8" name="Google Shape;118;p16"/>
          <p:cNvGrpSpPr/>
          <p:nvPr/>
        </p:nvGrpSpPr>
        <p:grpSpPr>
          <a:xfrm>
            <a:off x="4257825" y="2356438"/>
            <a:ext cx="875700" cy="232800"/>
            <a:chOff x="4257825" y="2356438"/>
            <a:chExt cx="875700" cy="232800"/>
          </a:xfrm>
        </p:grpSpPr>
        <p:sp>
          <p:nvSpPr>
            <p:cNvPr id="119" name="Google Shape;119;p16"/>
            <p:cNvSpPr txBox="1"/>
            <p:nvPr/>
          </p:nvSpPr>
          <p:spPr>
            <a:xfrm>
              <a:off x="4257825" y="2356438"/>
              <a:ext cx="875700" cy="2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  <a:latin typeface="Open Sans"/>
                  <a:ea typeface="Open Sans"/>
                  <a:cs typeface="Open Sans"/>
                  <a:sym typeface="Open Sans"/>
                </a:rPr>
                <a:t>τ</a:t>
              </a:r>
              <a:r>
                <a:rPr baseline="-25000" lang="en" sz="900">
                  <a:solidFill>
                    <a:schemeClr val="dk2"/>
                  </a:solidFill>
                  <a:latin typeface="Open Sans"/>
                  <a:ea typeface="Open Sans"/>
                  <a:cs typeface="Open Sans"/>
                  <a:sym typeface="Open Sans"/>
                </a:rPr>
                <a:t>pulse</a:t>
              </a:r>
              <a:endParaRPr baseline="-25000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20" name="Google Shape;120;p16"/>
            <p:cNvCxnSpPr/>
            <p:nvPr/>
          </p:nvCxnSpPr>
          <p:spPr>
            <a:xfrm>
              <a:off x="4331825" y="2426300"/>
              <a:ext cx="221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</p:grpSp>
      <p:grpSp>
        <p:nvGrpSpPr>
          <p:cNvPr id="121" name="Google Shape;121;p16"/>
          <p:cNvGrpSpPr/>
          <p:nvPr/>
        </p:nvGrpSpPr>
        <p:grpSpPr>
          <a:xfrm>
            <a:off x="6440841" y="4100213"/>
            <a:ext cx="875700" cy="232800"/>
            <a:chOff x="4254916" y="2365188"/>
            <a:chExt cx="875700" cy="232800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4254916" y="2365188"/>
              <a:ext cx="875700" cy="2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  <a:latin typeface="Open Sans"/>
                  <a:ea typeface="Open Sans"/>
                  <a:cs typeface="Open Sans"/>
                  <a:sym typeface="Open Sans"/>
                </a:rPr>
                <a:t>τ</a:t>
              </a:r>
              <a:r>
                <a:rPr baseline="-25000" lang="en" sz="900">
                  <a:solidFill>
                    <a:schemeClr val="dk2"/>
                  </a:solidFill>
                  <a:latin typeface="Open Sans"/>
                  <a:ea typeface="Open Sans"/>
                  <a:cs typeface="Open Sans"/>
                  <a:sym typeface="Open Sans"/>
                </a:rPr>
                <a:t>duty</a:t>
              </a:r>
              <a:endParaRPr baseline="-25000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23" name="Google Shape;123;p16"/>
            <p:cNvCxnSpPr/>
            <p:nvPr/>
          </p:nvCxnSpPr>
          <p:spPr>
            <a:xfrm>
              <a:off x="4272550" y="2426300"/>
              <a:ext cx="47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</p:grpSp>
      <p:sp>
        <p:nvSpPr>
          <p:cNvPr id="124" name="Google Shape;124;p16"/>
          <p:cNvSpPr txBox="1"/>
          <p:nvPr/>
        </p:nvSpPr>
        <p:spPr>
          <a:xfrm>
            <a:off x="85475" y="3608550"/>
            <a:ext cx="3699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τ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pulse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and τ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duty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are adjustable can be set via Kernel Module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2935396" y="4663485"/>
            <a:ext cx="1186800" cy="279300"/>
          </a:xfrm>
          <a:prstGeom prst="roundRect">
            <a:avLst>
              <a:gd fmla="val 729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Start of Cycle</a:t>
            </a:r>
            <a:endParaRPr b="1" i="1"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6" name="Google Shape;126;p16"/>
          <p:cNvCxnSpPr/>
          <p:nvPr/>
        </p:nvCxnSpPr>
        <p:spPr>
          <a:xfrm flipH="1">
            <a:off x="4203646" y="4538500"/>
            <a:ext cx="102000" cy="28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7" name="Google Shape;127;p16"/>
          <p:cNvCxnSpPr/>
          <p:nvPr/>
        </p:nvCxnSpPr>
        <p:spPr>
          <a:xfrm flipH="1">
            <a:off x="5530270" y="4538500"/>
            <a:ext cx="102000" cy="28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8" name="Google Shape;128;p16"/>
          <p:cNvCxnSpPr/>
          <p:nvPr/>
        </p:nvCxnSpPr>
        <p:spPr>
          <a:xfrm flipH="1">
            <a:off x="6827695" y="4538500"/>
            <a:ext cx="102000" cy="28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9" name="Google Shape;129;p16"/>
          <p:cNvCxnSpPr>
            <a:endCxn id="125" idx="3"/>
          </p:cNvCxnSpPr>
          <p:nvPr/>
        </p:nvCxnSpPr>
        <p:spPr>
          <a:xfrm rot="10800000">
            <a:off x="4122196" y="4803135"/>
            <a:ext cx="470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6"/>
          <p:cNvCxnSpPr/>
          <p:nvPr/>
        </p:nvCxnSpPr>
        <p:spPr>
          <a:xfrm flipH="1">
            <a:off x="8701220" y="4541400"/>
            <a:ext cx="102000" cy="28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327450" y="0"/>
            <a:ext cx="84891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u="sng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SafeStoves</a:t>
            </a:r>
            <a:r>
              <a:rPr lang="en" sz="2800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" sz="2200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 A embedded wireless stove monitoring system</a:t>
            </a:r>
            <a:endParaRPr sz="2600">
              <a:solidFill>
                <a:srgbClr val="EFEFE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25100" y="750575"/>
            <a:ext cx="90189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Project Demo Video</a:t>
            </a:r>
            <a:endParaRPr i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17" title="20251209_23403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2026" y="781675"/>
            <a:ext cx="2337425" cy="4155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